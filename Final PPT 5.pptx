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9F8ABE-0A4F-4E22-9B64-A005B056714E}" v="232" dt="2026-04-05T17:55:06.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68" autoAdjust="0"/>
    <p:restoredTop sz="94610"/>
  </p:normalViewPr>
  <p:slideViewPr>
    <p:cSldViewPr snapToGrid="0" snapToObjects="1">
      <p:cViewPr varScale="1">
        <p:scale>
          <a:sx n="99" d="100"/>
          <a:sy n="99" d="100"/>
        </p:scale>
        <p:origin x="234" y="51"/>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dehiba Barad" userId="9f4a5bd195dedd27" providerId="LiveId" clId="{0FEE92F9-5F88-4E5B-AF1D-22562DEFC8E3}"/>
    <pc:docChg chg="custSel modSld">
      <pc:chgData name="Vaidehiba Barad" userId="9f4a5bd195dedd27" providerId="LiveId" clId="{0FEE92F9-5F88-4E5B-AF1D-22562DEFC8E3}" dt="2026-04-05T17:55:06.012" v="242"/>
      <pc:docMkLst>
        <pc:docMk/>
      </pc:docMkLst>
      <pc:sldChg chg="modSp">
        <pc:chgData name="Vaidehiba Barad" userId="9f4a5bd195dedd27" providerId="LiveId" clId="{0FEE92F9-5F88-4E5B-AF1D-22562DEFC8E3}" dt="2026-04-05T17:52:42.163" v="14" actId="20577"/>
        <pc:sldMkLst>
          <pc:docMk/>
          <pc:sldMk cId="0" sldId="261"/>
        </pc:sldMkLst>
        <pc:spChg chg="mod">
          <ac:chgData name="Vaidehiba Barad" userId="9f4a5bd195dedd27" providerId="LiveId" clId="{0FEE92F9-5F88-4E5B-AF1D-22562DEFC8E3}" dt="2026-04-05T17:52:42.163" v="14" actId="20577"/>
          <ac:spMkLst>
            <pc:docMk/>
            <pc:sldMk cId="0" sldId="261"/>
            <ac:spMk id="21" creationId="{00000000-0000-0000-0000-000000000000}"/>
          </ac:spMkLst>
        </pc:spChg>
      </pc:sldChg>
      <pc:sldChg chg="addSp delSp modSp mod delAnim modAnim">
        <pc:chgData name="Vaidehiba Barad" userId="9f4a5bd195dedd27" providerId="LiveId" clId="{0FEE92F9-5F88-4E5B-AF1D-22562DEFC8E3}" dt="2026-04-05T17:54:55.926" v="240"/>
        <pc:sldMkLst>
          <pc:docMk/>
          <pc:sldMk cId="0" sldId="262"/>
        </pc:sldMkLst>
        <pc:spChg chg="mod">
          <ac:chgData name="Vaidehiba Barad" userId="9f4a5bd195dedd27" providerId="LiveId" clId="{0FEE92F9-5F88-4E5B-AF1D-22562DEFC8E3}" dt="2026-04-05T17:54:33.259" v="237" actId="20577"/>
          <ac:spMkLst>
            <pc:docMk/>
            <pc:sldMk cId="0" sldId="262"/>
            <ac:spMk id="21" creationId="{00000000-0000-0000-0000-000000000000}"/>
          </ac:spMkLst>
        </pc:spChg>
        <pc:picChg chg="add mod">
          <ac:chgData name="Vaidehiba Barad" userId="9f4a5bd195dedd27" providerId="LiveId" clId="{0FEE92F9-5F88-4E5B-AF1D-22562DEFC8E3}" dt="2026-04-05T17:53:35.276" v="25" actId="14100"/>
          <ac:picMkLst>
            <pc:docMk/>
            <pc:sldMk cId="0" sldId="262"/>
            <ac:picMk id="22" creationId="{952D9914-6360-3FF6-4054-16145A0307FB}"/>
          </ac:picMkLst>
        </pc:picChg>
        <pc:picChg chg="del">
          <ac:chgData name="Vaidehiba Barad" userId="9f4a5bd195dedd27" providerId="LiveId" clId="{0FEE92F9-5F88-4E5B-AF1D-22562DEFC8E3}" dt="2026-04-05T17:52:55.023" v="15" actId="478"/>
          <ac:picMkLst>
            <pc:docMk/>
            <pc:sldMk cId="0" sldId="262"/>
            <ac:picMk id="27" creationId="{9115391B-8229-07E5-54D0-0BF1A44B9A1A}"/>
          </ac:picMkLst>
        </pc:picChg>
      </pc:sldChg>
      <pc:sldChg chg="modAnim">
        <pc:chgData name="Vaidehiba Barad" userId="9f4a5bd195dedd27" providerId="LiveId" clId="{0FEE92F9-5F88-4E5B-AF1D-22562DEFC8E3}" dt="2026-04-05T17:55:06.012" v="242"/>
        <pc:sldMkLst>
          <pc:docMk/>
          <pc:sldMk cId="0" sldId="2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hyperlink" Target="mailto:jaydipsinhbarad459@gmail.com"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sv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76885" y="4927081"/>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320766" y="292376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00998" y="3815757"/>
            <a:ext cx="2140221"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Barad Vaidehiba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Jaydipsinh</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544411" cy="48391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hlinkClick r:id="rId6"/>
              </a:rPr>
              <a:t>jaydipsinhbarad459@gmail.com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&amp; vaidehibabarad459@gmail.com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Umamaheshwari mam</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31957" y="962079"/>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ppt_x"/>
                                          </p:val>
                                        </p:tav>
                                        <p:tav tm="100000">
                                          <p:val>
                                            <p:strVal val="#ppt_x"/>
                                          </p:val>
                                        </p:tav>
                                      </p:tavLst>
                                    </p:anim>
                                    <p:anim calcmode="lin" valueType="num">
                                      <p:cBhvr additive="base">
                                        <p:cTn id="13" dur="500" fill="hold"/>
                                        <p:tgtEl>
                                          <p:spTgt spid="2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ppt_x"/>
                                          </p:val>
                                        </p:tav>
                                        <p:tav tm="100000">
                                          <p:val>
                                            <p:strVal val="#ppt_x"/>
                                          </p:val>
                                        </p:tav>
                                      </p:tavLst>
                                    </p:anim>
                                    <p:anim calcmode="lin" valueType="num">
                                      <p:cBhvr additive="base">
                                        <p:cTn id="23" dur="500" fill="hold"/>
                                        <p:tgtEl>
                                          <p:spTgt spid="14"/>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fill="hold"/>
                                        <p:tgtEl>
                                          <p:spTgt spid="33"/>
                                        </p:tgtEl>
                                        <p:attrNameLst>
                                          <p:attrName>ppt_x</p:attrName>
                                        </p:attrNameLst>
                                      </p:cBhvr>
                                      <p:tavLst>
                                        <p:tav tm="0">
                                          <p:val>
                                            <p:strVal val="#ppt_x"/>
                                          </p:val>
                                        </p:tav>
                                        <p:tav tm="100000">
                                          <p:val>
                                            <p:strVal val="#ppt_x"/>
                                          </p:val>
                                        </p:tav>
                                      </p:tavLst>
                                    </p:anim>
                                    <p:anim calcmode="lin" valueType="num">
                                      <p:cBhvr additive="base">
                                        <p:cTn id="43" dur="500" fill="hold"/>
                                        <p:tgtEl>
                                          <p:spTgt spid="33"/>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 calcmode="lin" valueType="num">
                                      <p:cBhvr additive="base">
                                        <p:cTn id="47" dur="500" fill="hold"/>
                                        <p:tgtEl>
                                          <p:spTgt spid="32"/>
                                        </p:tgtEl>
                                        <p:attrNameLst>
                                          <p:attrName>ppt_x</p:attrName>
                                        </p:attrNameLst>
                                      </p:cBhvr>
                                      <p:tavLst>
                                        <p:tav tm="0">
                                          <p:val>
                                            <p:strVal val="#ppt_x"/>
                                          </p:val>
                                        </p:tav>
                                        <p:tav tm="100000">
                                          <p:val>
                                            <p:strVal val="#ppt_x"/>
                                          </p:val>
                                        </p:tav>
                                      </p:tavLst>
                                    </p:anim>
                                    <p:anim calcmode="lin" valueType="num">
                                      <p:cBhvr additive="base">
                                        <p:cTn id="48" dur="500" fill="hold"/>
                                        <p:tgtEl>
                                          <p:spTgt spid="32"/>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 calcmode="lin" valueType="num">
                                      <p:cBhvr additive="base">
                                        <p:cTn id="52" dur="500" fill="hold"/>
                                        <p:tgtEl>
                                          <p:spTgt spid="31"/>
                                        </p:tgtEl>
                                        <p:attrNameLst>
                                          <p:attrName>ppt_x</p:attrName>
                                        </p:attrNameLst>
                                      </p:cBhvr>
                                      <p:tavLst>
                                        <p:tav tm="0">
                                          <p:val>
                                            <p:strVal val="#ppt_x"/>
                                          </p:val>
                                        </p:tav>
                                        <p:tav tm="100000">
                                          <p:val>
                                            <p:strVal val="#ppt_x"/>
                                          </p:val>
                                        </p:tav>
                                      </p:tavLst>
                                    </p:anim>
                                    <p:anim calcmode="lin" valueType="num">
                                      <p:cBhvr additive="base">
                                        <p:cTn id="5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75"/>
                                        </p:tgtEl>
                                        <p:attrNameLst>
                                          <p:attrName>style.visibility</p:attrName>
                                        </p:attrNameLst>
                                      </p:cBhvr>
                                      <p:to>
                                        <p:strVal val="visible"/>
                                      </p:to>
                                    </p:set>
                                    <p:anim calcmode="lin" valueType="num">
                                      <p:cBhvr additive="base">
                                        <p:cTn id="58" dur="500" fill="hold"/>
                                        <p:tgtEl>
                                          <p:spTgt spid="75"/>
                                        </p:tgtEl>
                                        <p:attrNameLst>
                                          <p:attrName>ppt_x</p:attrName>
                                        </p:attrNameLst>
                                      </p:cBhvr>
                                      <p:tavLst>
                                        <p:tav tm="0">
                                          <p:val>
                                            <p:strVal val="#ppt_x"/>
                                          </p:val>
                                        </p:tav>
                                        <p:tav tm="100000">
                                          <p:val>
                                            <p:strVal val="#ppt_x"/>
                                          </p:val>
                                        </p:tav>
                                      </p:tavLst>
                                    </p:anim>
                                    <p:anim calcmode="lin" valueType="num">
                                      <p:cBhvr additive="base">
                                        <p:cTn id="59"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1" presetClass="entr" presetSubtype="0" fill="hold" nodeType="clickEffect">
                                  <p:stCondLst>
                                    <p:cond delay="0"/>
                                  </p:stCondLst>
                                  <p:childTnLst>
                                    <p:set>
                                      <p:cBhvr>
                                        <p:cTn id="63" dur="1" fill="hold">
                                          <p:stCondLst>
                                            <p:cond delay="0"/>
                                          </p:stCondLst>
                                        </p:cTn>
                                        <p:tgtEl>
                                          <p:spTgt spid="49"/>
                                        </p:tgtEl>
                                        <p:attrNameLst>
                                          <p:attrName>style.visibility</p:attrName>
                                        </p:attrNameLst>
                                      </p:cBhvr>
                                      <p:to>
                                        <p:strVal val="visible"/>
                                      </p:to>
                                    </p:set>
                                    <p:anim calcmode="lin" valueType="num">
                                      <p:cBhvr>
                                        <p:cTn id="64" dur="1000" fill="hold"/>
                                        <p:tgtEl>
                                          <p:spTgt spid="49"/>
                                        </p:tgtEl>
                                        <p:attrNameLst>
                                          <p:attrName>ppt_w</p:attrName>
                                        </p:attrNameLst>
                                      </p:cBhvr>
                                      <p:tavLst>
                                        <p:tav tm="0">
                                          <p:val>
                                            <p:fltVal val="0"/>
                                          </p:val>
                                        </p:tav>
                                        <p:tav tm="100000">
                                          <p:val>
                                            <p:strVal val="#ppt_w"/>
                                          </p:val>
                                        </p:tav>
                                      </p:tavLst>
                                    </p:anim>
                                    <p:anim calcmode="lin" valueType="num">
                                      <p:cBhvr>
                                        <p:cTn id="65" dur="1000" fill="hold"/>
                                        <p:tgtEl>
                                          <p:spTgt spid="49"/>
                                        </p:tgtEl>
                                        <p:attrNameLst>
                                          <p:attrName>ppt_h</p:attrName>
                                        </p:attrNameLst>
                                      </p:cBhvr>
                                      <p:tavLst>
                                        <p:tav tm="0">
                                          <p:val>
                                            <p:fltVal val="0"/>
                                          </p:val>
                                        </p:tav>
                                        <p:tav tm="100000">
                                          <p:val>
                                            <p:strVal val="#ppt_h"/>
                                          </p:val>
                                        </p:tav>
                                      </p:tavLst>
                                    </p:anim>
                                    <p:anim calcmode="lin" valueType="num">
                                      <p:cBhvr>
                                        <p:cTn id="66" dur="1000" fill="hold"/>
                                        <p:tgtEl>
                                          <p:spTgt spid="49"/>
                                        </p:tgtEl>
                                        <p:attrNameLst>
                                          <p:attrName>style.rotation</p:attrName>
                                        </p:attrNameLst>
                                      </p:cBhvr>
                                      <p:tavLst>
                                        <p:tav tm="0">
                                          <p:val>
                                            <p:fltVal val="90"/>
                                          </p:val>
                                        </p:tav>
                                        <p:tav tm="100000">
                                          <p:val>
                                            <p:fltVal val="0"/>
                                          </p:val>
                                        </p:tav>
                                      </p:tavLst>
                                    </p:anim>
                                    <p:animEffect transition="in" filter="fade">
                                      <p:cBhvr>
                                        <p:cTn id="67" dur="1000"/>
                                        <p:tgtEl>
                                          <p:spTgt spid="49"/>
                                        </p:tgtEl>
                                      </p:cBhvr>
                                    </p:animEffect>
                                  </p:childTnLst>
                                </p:cTn>
                              </p:par>
                              <p:par>
                                <p:cTn id="68" presetID="31" presetClass="entr" presetSubtype="0" fill="hold" nodeType="withEffect">
                                  <p:stCondLst>
                                    <p:cond delay="0"/>
                                  </p:stCondLst>
                                  <p:childTnLst>
                                    <p:set>
                                      <p:cBhvr>
                                        <p:cTn id="69" dur="1" fill="hold">
                                          <p:stCondLst>
                                            <p:cond delay="0"/>
                                          </p:stCondLst>
                                        </p:cTn>
                                        <p:tgtEl>
                                          <p:spTgt spid="46"/>
                                        </p:tgtEl>
                                        <p:attrNameLst>
                                          <p:attrName>style.visibility</p:attrName>
                                        </p:attrNameLst>
                                      </p:cBhvr>
                                      <p:to>
                                        <p:strVal val="visible"/>
                                      </p:to>
                                    </p:set>
                                    <p:anim calcmode="lin" valueType="num">
                                      <p:cBhvr>
                                        <p:cTn id="70" dur="1000" fill="hold"/>
                                        <p:tgtEl>
                                          <p:spTgt spid="46"/>
                                        </p:tgtEl>
                                        <p:attrNameLst>
                                          <p:attrName>ppt_w</p:attrName>
                                        </p:attrNameLst>
                                      </p:cBhvr>
                                      <p:tavLst>
                                        <p:tav tm="0">
                                          <p:val>
                                            <p:fltVal val="0"/>
                                          </p:val>
                                        </p:tav>
                                        <p:tav tm="100000">
                                          <p:val>
                                            <p:strVal val="#ppt_w"/>
                                          </p:val>
                                        </p:tav>
                                      </p:tavLst>
                                    </p:anim>
                                    <p:anim calcmode="lin" valueType="num">
                                      <p:cBhvr>
                                        <p:cTn id="71" dur="1000" fill="hold"/>
                                        <p:tgtEl>
                                          <p:spTgt spid="46"/>
                                        </p:tgtEl>
                                        <p:attrNameLst>
                                          <p:attrName>ppt_h</p:attrName>
                                        </p:attrNameLst>
                                      </p:cBhvr>
                                      <p:tavLst>
                                        <p:tav tm="0">
                                          <p:val>
                                            <p:fltVal val="0"/>
                                          </p:val>
                                        </p:tav>
                                        <p:tav tm="100000">
                                          <p:val>
                                            <p:strVal val="#ppt_h"/>
                                          </p:val>
                                        </p:tav>
                                      </p:tavLst>
                                    </p:anim>
                                    <p:anim calcmode="lin" valueType="num">
                                      <p:cBhvr>
                                        <p:cTn id="72" dur="1000" fill="hold"/>
                                        <p:tgtEl>
                                          <p:spTgt spid="46"/>
                                        </p:tgtEl>
                                        <p:attrNameLst>
                                          <p:attrName>style.rotation</p:attrName>
                                        </p:attrNameLst>
                                      </p:cBhvr>
                                      <p:tavLst>
                                        <p:tav tm="0">
                                          <p:val>
                                            <p:fltVal val="90"/>
                                          </p:val>
                                        </p:tav>
                                        <p:tav tm="100000">
                                          <p:val>
                                            <p:fltVal val="0"/>
                                          </p:val>
                                        </p:tav>
                                      </p:tavLst>
                                    </p:anim>
                                    <p:animEffect transition="in" filter="fade">
                                      <p:cBhvr>
                                        <p:cTn id="73" dur="1000"/>
                                        <p:tgtEl>
                                          <p:spTgt spid="46"/>
                                        </p:tgtEl>
                                      </p:cBhvr>
                                    </p:animEffect>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nodeType="click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fade">
                                      <p:cBhvr>
                                        <p:cTn id="78" dur="1000"/>
                                        <p:tgtEl>
                                          <p:spTgt spid="47"/>
                                        </p:tgtEl>
                                      </p:cBhvr>
                                    </p:animEffect>
                                    <p:anim calcmode="lin" valueType="num">
                                      <p:cBhvr>
                                        <p:cTn id="79" dur="1000" fill="hold"/>
                                        <p:tgtEl>
                                          <p:spTgt spid="47"/>
                                        </p:tgtEl>
                                        <p:attrNameLst>
                                          <p:attrName>ppt_x</p:attrName>
                                        </p:attrNameLst>
                                      </p:cBhvr>
                                      <p:tavLst>
                                        <p:tav tm="0">
                                          <p:val>
                                            <p:strVal val="#ppt_x"/>
                                          </p:val>
                                        </p:tav>
                                        <p:tav tm="100000">
                                          <p:val>
                                            <p:strVal val="#ppt_x"/>
                                          </p:val>
                                        </p:tav>
                                      </p:tavLst>
                                    </p:anim>
                                    <p:anim calcmode="lin" valueType="num">
                                      <p:cBhvr>
                                        <p:cTn id="80"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500"/>
                                        <p:tgtEl>
                                          <p:spTgt spid="50"/>
                                        </p:tgtEl>
                                      </p:cBhvr>
                                    </p:animEffect>
                                  </p:childTnLst>
                                </p:cTn>
                              </p:par>
                            </p:childTnLst>
                          </p:cTn>
                        </p:par>
                      </p:childTnLst>
                    </p:cTn>
                  </p:par>
                  <p:par>
                    <p:cTn id="86" fill="hold">
                      <p:stCondLst>
                        <p:cond delay="indefinite"/>
                      </p:stCondLst>
                      <p:childTnLst>
                        <p:par>
                          <p:cTn id="87" fill="hold">
                            <p:stCondLst>
                              <p:cond delay="0"/>
                            </p:stCondLst>
                            <p:childTnLst>
                              <p:par>
                                <p:cTn id="88" presetID="2" presetClass="entr" presetSubtype="8"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 calcmode="lin" valueType="num">
                                      <p:cBhvr additive="base">
                                        <p:cTn id="90" dur="500" fill="hold"/>
                                        <p:tgtEl>
                                          <p:spTgt spid="40"/>
                                        </p:tgtEl>
                                        <p:attrNameLst>
                                          <p:attrName>ppt_x</p:attrName>
                                        </p:attrNameLst>
                                      </p:cBhvr>
                                      <p:tavLst>
                                        <p:tav tm="0">
                                          <p:val>
                                            <p:strVal val="0-#ppt_w/2"/>
                                          </p:val>
                                        </p:tav>
                                        <p:tav tm="100000">
                                          <p:val>
                                            <p:strVal val="#ppt_x"/>
                                          </p:val>
                                        </p:tav>
                                      </p:tavLst>
                                    </p:anim>
                                    <p:anim calcmode="lin" valueType="num">
                                      <p:cBhvr additive="base">
                                        <p:cTn id="91"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8" fill="hold" grpId="0" nodeType="clickEffect">
                                  <p:stCondLst>
                                    <p:cond delay="0"/>
                                  </p:stCondLst>
                                  <p:childTnLst>
                                    <p:set>
                                      <p:cBhvr>
                                        <p:cTn id="95" dur="1" fill="hold">
                                          <p:stCondLst>
                                            <p:cond delay="0"/>
                                          </p:stCondLst>
                                        </p:cTn>
                                        <p:tgtEl>
                                          <p:spTgt spid="42"/>
                                        </p:tgtEl>
                                        <p:attrNameLst>
                                          <p:attrName>style.visibility</p:attrName>
                                        </p:attrNameLst>
                                      </p:cBhvr>
                                      <p:to>
                                        <p:strVal val="visible"/>
                                      </p:to>
                                    </p:set>
                                    <p:anim calcmode="lin" valueType="num">
                                      <p:cBhvr additive="base">
                                        <p:cTn id="96" dur="500" fill="hold"/>
                                        <p:tgtEl>
                                          <p:spTgt spid="42"/>
                                        </p:tgtEl>
                                        <p:attrNameLst>
                                          <p:attrName>ppt_x</p:attrName>
                                        </p:attrNameLst>
                                      </p:cBhvr>
                                      <p:tavLst>
                                        <p:tav tm="0">
                                          <p:val>
                                            <p:strVal val="0-#ppt_w/2"/>
                                          </p:val>
                                        </p:tav>
                                        <p:tav tm="100000">
                                          <p:val>
                                            <p:strVal val="#ppt_x"/>
                                          </p:val>
                                        </p:tav>
                                      </p:tavLst>
                                    </p:anim>
                                    <p:anim calcmode="lin" valueType="num">
                                      <p:cBhvr additive="base">
                                        <p:cTn id="97"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nodeType="clickEffect">
                                  <p:stCondLst>
                                    <p:cond delay="0"/>
                                  </p:stCondLst>
                                  <p:childTnLst>
                                    <p:set>
                                      <p:cBhvr>
                                        <p:cTn id="101" dur="1" fill="hold">
                                          <p:stCondLst>
                                            <p:cond delay="0"/>
                                          </p:stCondLst>
                                        </p:cTn>
                                        <p:tgtEl>
                                          <p:spTgt spid="51"/>
                                        </p:tgtEl>
                                        <p:attrNameLst>
                                          <p:attrName>style.visibility</p:attrName>
                                        </p:attrNameLst>
                                      </p:cBhvr>
                                      <p:to>
                                        <p:strVal val="visible"/>
                                      </p:to>
                                    </p:set>
                                    <p:animEffect transition="in" filter="fade">
                                      <p:cBhvr>
                                        <p:cTn id="102" dur="1000"/>
                                        <p:tgtEl>
                                          <p:spTgt spid="51"/>
                                        </p:tgtEl>
                                      </p:cBhvr>
                                    </p:animEffect>
                                    <p:anim calcmode="lin" valueType="num">
                                      <p:cBhvr>
                                        <p:cTn id="103" dur="1000" fill="hold"/>
                                        <p:tgtEl>
                                          <p:spTgt spid="51"/>
                                        </p:tgtEl>
                                        <p:attrNameLst>
                                          <p:attrName>ppt_x</p:attrName>
                                        </p:attrNameLst>
                                      </p:cBhvr>
                                      <p:tavLst>
                                        <p:tav tm="0">
                                          <p:val>
                                            <p:strVal val="#ppt_x"/>
                                          </p:val>
                                        </p:tav>
                                        <p:tav tm="100000">
                                          <p:val>
                                            <p:strVal val="#ppt_x"/>
                                          </p:val>
                                        </p:tav>
                                      </p:tavLst>
                                    </p:anim>
                                    <p:anim calcmode="lin" valueType="num">
                                      <p:cBhvr>
                                        <p:cTn id="104"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41"/>
                                        </p:tgtEl>
                                        <p:attrNameLst>
                                          <p:attrName>style.visibility</p:attrName>
                                        </p:attrNameLst>
                                      </p:cBhvr>
                                      <p:to>
                                        <p:strVal val="visible"/>
                                      </p:to>
                                    </p:set>
                                    <p:anim calcmode="lin" valueType="num">
                                      <p:cBhvr additive="base">
                                        <p:cTn id="109" dur="500" fill="hold"/>
                                        <p:tgtEl>
                                          <p:spTgt spid="41"/>
                                        </p:tgtEl>
                                        <p:attrNameLst>
                                          <p:attrName>ppt_x</p:attrName>
                                        </p:attrNameLst>
                                      </p:cBhvr>
                                      <p:tavLst>
                                        <p:tav tm="0">
                                          <p:val>
                                            <p:strVal val="1+#ppt_w/2"/>
                                          </p:val>
                                        </p:tav>
                                        <p:tav tm="100000">
                                          <p:val>
                                            <p:strVal val="#ppt_x"/>
                                          </p:val>
                                        </p:tav>
                                      </p:tavLst>
                                    </p:anim>
                                    <p:anim calcmode="lin" valueType="num">
                                      <p:cBhvr additive="base">
                                        <p:cTn id="110"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43"/>
                                        </p:tgtEl>
                                        <p:attrNameLst>
                                          <p:attrName>style.visibility</p:attrName>
                                        </p:attrNameLst>
                                      </p:cBhvr>
                                      <p:to>
                                        <p:strVal val="visible"/>
                                      </p:to>
                                    </p:set>
                                    <p:anim calcmode="lin" valueType="num">
                                      <p:cBhvr additive="base">
                                        <p:cTn id="115" dur="500" fill="hold"/>
                                        <p:tgtEl>
                                          <p:spTgt spid="43"/>
                                        </p:tgtEl>
                                        <p:attrNameLst>
                                          <p:attrName>ppt_x</p:attrName>
                                        </p:attrNameLst>
                                      </p:cBhvr>
                                      <p:tavLst>
                                        <p:tav tm="0">
                                          <p:val>
                                            <p:strVal val="1+#ppt_w/2"/>
                                          </p:val>
                                        </p:tav>
                                        <p:tav tm="100000">
                                          <p:val>
                                            <p:strVal val="#ppt_x"/>
                                          </p:val>
                                        </p:tav>
                                      </p:tavLst>
                                    </p:anim>
                                    <p:anim calcmode="lin" valueType="num">
                                      <p:cBhvr additive="base">
                                        <p:cTn id="116"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nodeType="clickEffect">
                                  <p:stCondLst>
                                    <p:cond delay="0"/>
                                  </p:stCondLst>
                                  <p:childTnLst>
                                    <p:set>
                                      <p:cBhvr>
                                        <p:cTn id="120" dur="1" fill="hold">
                                          <p:stCondLst>
                                            <p:cond delay="0"/>
                                          </p:stCondLst>
                                        </p:cTn>
                                        <p:tgtEl>
                                          <p:spTgt spid="71"/>
                                        </p:tgtEl>
                                        <p:attrNameLst>
                                          <p:attrName>style.visibility</p:attrName>
                                        </p:attrNameLst>
                                      </p:cBhvr>
                                      <p:to>
                                        <p:strVal val="visible"/>
                                      </p:to>
                                    </p:set>
                                    <p:animEffect transition="in" filter="fade">
                                      <p:cBhvr>
                                        <p:cTn id="121" dur="1000"/>
                                        <p:tgtEl>
                                          <p:spTgt spid="71"/>
                                        </p:tgtEl>
                                      </p:cBhvr>
                                    </p:animEffect>
                                    <p:anim calcmode="lin" valueType="num">
                                      <p:cBhvr>
                                        <p:cTn id="122" dur="1000" fill="hold"/>
                                        <p:tgtEl>
                                          <p:spTgt spid="71"/>
                                        </p:tgtEl>
                                        <p:attrNameLst>
                                          <p:attrName>ppt_x</p:attrName>
                                        </p:attrNameLst>
                                      </p:cBhvr>
                                      <p:tavLst>
                                        <p:tav tm="0">
                                          <p:val>
                                            <p:strVal val="#ppt_x"/>
                                          </p:val>
                                        </p:tav>
                                        <p:tav tm="100000">
                                          <p:val>
                                            <p:strVal val="#ppt_x"/>
                                          </p:val>
                                        </p:tav>
                                      </p:tavLst>
                                    </p:anim>
                                    <p:anim calcmode="lin" valueType="num">
                                      <p:cBhvr>
                                        <p:cTn id="123"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66"/>
                                        </p:tgtEl>
                                        <p:attrNameLst>
                                          <p:attrName>style.visibility</p:attrName>
                                        </p:attrNameLst>
                                      </p:cBhvr>
                                      <p:to>
                                        <p:strVal val="visible"/>
                                      </p:to>
                                    </p:set>
                                    <p:anim calcmode="lin" valueType="num">
                                      <p:cBhvr additive="base">
                                        <p:cTn id="128" dur="500" fill="hold"/>
                                        <p:tgtEl>
                                          <p:spTgt spid="66"/>
                                        </p:tgtEl>
                                        <p:attrNameLst>
                                          <p:attrName>ppt_x</p:attrName>
                                        </p:attrNameLst>
                                      </p:cBhvr>
                                      <p:tavLst>
                                        <p:tav tm="0">
                                          <p:val>
                                            <p:strVal val="#ppt_x"/>
                                          </p:val>
                                        </p:tav>
                                        <p:tav tm="100000">
                                          <p:val>
                                            <p:strVal val="#ppt_x"/>
                                          </p:val>
                                        </p:tav>
                                      </p:tavLst>
                                    </p:anim>
                                    <p:anim calcmode="lin" valueType="num">
                                      <p:cBhvr additive="base">
                                        <p:cTn id="129"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40" grpId="0"/>
      <p:bldP spid="42" grpId="0"/>
      <p:bldP spid="41" grpId="0"/>
      <p:bldP spid="43" grpId="0"/>
      <p:bldP spid="31" grpId="0" animBg="1"/>
      <p:bldP spid="32" grpId="0" animBg="1"/>
      <p:bldP spid="33" grpId="0" animBg="1"/>
      <p:bldP spid="3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0-#ppt_w/2"/>
                                          </p:val>
                                        </p:tav>
                                        <p:tav tm="100000">
                                          <p:val>
                                            <p:strVal val="#ppt_x"/>
                                          </p:val>
                                        </p:tav>
                                      </p:tavLst>
                                    </p:anim>
                                    <p:anim calcmode="lin" valueType="num">
                                      <p:cBhvr additive="base">
                                        <p:cTn id="14"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arn(inVertical)">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0" y="1318620"/>
            <a:ext cx="5002346" cy="2339102"/>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Purpose : To study house price trends in </a:t>
            </a:r>
            <a:r>
              <a:rPr lang="en-US" dirty="0">
                <a:latin typeface="Lato" panose="020F0502020204030203" pitchFamily="34" charset="0"/>
                <a:ea typeface="Open Sans" panose="020B0606030504020204" pitchFamily="34" charset="0"/>
                <a:cs typeface="Arial" panose="020B0604020202020204" pitchFamily="34" charset="0"/>
              </a:rPr>
              <a:t>I</a:t>
            </a:r>
            <a:r>
              <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rPr>
              <a:t>ndia                              And  affordability , growth drivers.</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Tools : Excel , Ai forecasting </a:t>
            </a:r>
            <a:r>
              <a:rPr lang="en-US" dirty="0" err="1">
                <a:latin typeface="Lato" panose="020F0502020204030203" pitchFamily="34" charset="0"/>
                <a:ea typeface="+mn-lt"/>
                <a:cs typeface="Arial" panose="020B0604020202020204" pitchFamily="34" charset="0"/>
              </a:rPr>
              <a:t>models,Power</a:t>
            </a:r>
            <a:r>
              <a:rPr lang="en-US" dirty="0">
                <a:latin typeface="Lato" panose="020F0502020204030203" pitchFamily="34" charset="0"/>
                <a:ea typeface="+mn-lt"/>
                <a:cs typeface="Arial" panose="020B0604020202020204" pitchFamily="34" charset="0"/>
              </a:rPr>
              <a:t> bi.</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Outcomes : Dashboards , affordability indices , predictive insights</a:t>
            </a:r>
            <a:r>
              <a:rPr lang="en-US" sz="1800" dirty="0">
                <a:latin typeface="Lato" panose="020F0502020204030203" pitchFamily="34" charset="0"/>
                <a:ea typeface="+mn-lt"/>
                <a:cs typeface="Arial" panose="020B0604020202020204" pitchFamily="34" charset="0"/>
              </a:rPr>
              <a:t>.</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Highlight : Unique integration of affordability + predictive analysis</a:t>
            </a:r>
            <a:r>
              <a:rPr lang="en-US" sz="1800" dirty="0">
                <a:latin typeface="Lato" panose="020F0502020204030203" pitchFamily="34" charset="0"/>
                <a:ea typeface="+mn-lt"/>
                <a:cs typeface="Arial" panose="020B0604020202020204" pitchFamily="34" charset="0"/>
              </a:rPr>
              <a:t>.</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53051" y="1193492"/>
            <a:ext cx="4762910" cy="289310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Times New Roman" panose="02020603050405020304" pitchFamily="18" charset="0"/>
                <a:cs typeface="Arial" panose="020B0604020202020204" pitchFamily="34" charset="0"/>
              </a:rPr>
              <a:t>Rising house price – affordability challenges for middle-income buyers</a:t>
            </a:r>
            <a:r>
              <a:rPr lang="en-US"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Lack of integrated dashboards combining affordability , growth trends , and predictive analysis .</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Target users : policymakers , investors , buyers.</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Scope : focus on urban cities ( Delhi-NCR , Bengaluru , Hyderabad , Pune , Mumbai)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outVertic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207942"/>
            <a:ext cx="4663082" cy="3210026"/>
          </a:xfrm>
          <a:prstGeom prst="rect">
            <a:avLst/>
          </a:prstGeom>
          <a:noFill/>
          <a:ln/>
        </p:spPr>
        <p:txBody>
          <a:bodyPr wrap="square" rtlCol="0" anchor="t"/>
          <a:lstStyle/>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Build a Data-Driven dashboard.</a:t>
            </a:r>
          </a:p>
          <a:p>
            <a:pPr marL="0" indent="0">
              <a:buNone/>
            </a:pPr>
            <a:endParaRPr lang="en-US" dirty="0">
              <a:solidFill>
                <a:srgbClr val="1A1A2E"/>
              </a:solidFill>
              <a:latin typeface="Lato" panose="020F0502020204030203" pitchFamily="34" charset="0"/>
              <a:ea typeface="Calibri" pitchFamily="34" charset="-122"/>
              <a:cs typeface="Arial" panose="020B0604020202020204" pitchFamily="34" charset="0"/>
            </a:endParaRPr>
          </a:p>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Integrate house price dataset,             affordability indices, and AI – based predictive models.</a:t>
            </a:r>
          </a:p>
          <a:p>
            <a:pPr marL="0" indent="0">
              <a:buNone/>
            </a:pPr>
            <a:endParaRPr lang="en-US" dirty="0">
              <a:solidFill>
                <a:srgbClr val="1A1A2E"/>
              </a:solidFill>
              <a:latin typeface="Lato" panose="020F0502020204030203" pitchFamily="34" charset="0"/>
              <a:ea typeface="Calibri" pitchFamily="34" charset="-122"/>
              <a:cs typeface="Arial" panose="020B0604020202020204" pitchFamily="34" charset="0"/>
            </a:endParaRPr>
          </a:p>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benefits : clear city-wise insights , affordability gap analysis , future forecasts.</a:t>
            </a:r>
          </a:p>
          <a:p>
            <a:pPr marL="0" indent="0">
              <a:buNone/>
            </a:pPr>
            <a:endParaRPr lang="en-US" dirty="0">
              <a:solidFill>
                <a:srgbClr val="1A1A2E"/>
              </a:solidFill>
              <a:latin typeface="Lato" panose="020F0502020204030203" pitchFamily="34" charset="0"/>
              <a:ea typeface="Calibri" pitchFamily="34" charset="-122"/>
              <a:cs typeface="Arial" panose="020B0604020202020204" pitchFamily="34" charset="0"/>
            </a:endParaRPr>
          </a:p>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Innovation : Combines multiple Tools ( Excel , Python, AI)</a:t>
            </a: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600" dirty="0">
                <a:solidFill>
                  <a:srgbClr val="1A1A2E"/>
                </a:solidFill>
                <a:latin typeface="Lato" panose="020F0502020204030203" pitchFamily="34" charset="0"/>
                <a:ea typeface="Calibri" pitchFamily="34" charset="-122"/>
                <a:cs typeface="Arial" panose="020B0604020202020204" pitchFamily="34" charset="0"/>
              </a:rPr>
              <a:t>House price dataset containing features like bedrooms, bathrooms, area, and price.</a:t>
            </a: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dirty="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600" dirty="0">
                <a:latin typeface="Lato" panose="020F0502020204030203" pitchFamily="34" charset="0"/>
                <a:cs typeface="Arial" panose="020B0604020202020204" pitchFamily="34" charset="0"/>
              </a:rPr>
              <a:t>Data cleaning and analysis is done using Excel, including pivot tables and charts.</a:t>
            </a: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221790" y="3434640"/>
            <a:ext cx="4023360" cy="1188720"/>
          </a:xfrm>
          <a:prstGeom prst="rect">
            <a:avLst/>
          </a:prstGeom>
          <a:noFill/>
          <a:ln/>
        </p:spPr>
        <p:txBody>
          <a:bodyPr wrap="square" rtlCol="0" anchor="t"/>
          <a:lstStyle/>
          <a:p>
            <a:r>
              <a:rPr lang="en-US" sz="1600" dirty="0">
                <a:latin typeface="Lato" panose="020F0502020204030203" pitchFamily="34" charset="0"/>
                <a:cs typeface="Arial" panose="020B0604020202020204" pitchFamily="34" charset="0"/>
              </a:rPr>
              <a:t>AI chatbot is created using Microsoft Copilot Studio to answer user queries.</a:t>
            </a: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600" dirty="0">
                <a:solidFill>
                  <a:srgbClr val="1A1A2E"/>
                </a:solidFill>
                <a:latin typeface="Lato" panose="020F0502020204030203" pitchFamily="34" charset="0"/>
                <a:ea typeface="Calibri" pitchFamily="34" charset="-122"/>
                <a:cs typeface="Arial" panose="020B0604020202020204" pitchFamily="34" charset="0"/>
              </a:rPr>
              <a:t>Power bi dashboard and chatbot responses showing insights and answers.</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0-#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0-#ppt_w/2"/>
                                          </p:val>
                                        </p:tav>
                                        <p:tav tm="100000">
                                          <p:val>
                                            <p:strVal val="#ppt_x"/>
                                          </p:val>
                                        </p:tav>
                                      </p:tavLst>
                                    </p:anim>
                                    <p:anim calcmode="lin" valueType="num">
                                      <p:cBhvr additive="base">
                                        <p:cTn id="3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1+#ppt_w/2"/>
                                          </p:val>
                                        </p:tav>
                                        <p:tav tm="100000">
                                          <p:val>
                                            <p:strVal val="#ppt_x"/>
                                          </p:val>
                                        </p:tav>
                                      </p:tavLst>
                                    </p:anim>
                                    <p:anim calcmode="lin" valueType="num">
                                      <p:cBhvr additive="base">
                                        <p:cTn id="39" dur="500" fill="hold"/>
                                        <p:tgtEl>
                                          <p:spTgt spid="14"/>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1+#ppt_w/2"/>
                                          </p:val>
                                        </p:tav>
                                        <p:tav tm="100000">
                                          <p:val>
                                            <p:strVal val="#ppt_x"/>
                                          </p:val>
                                        </p:tav>
                                      </p:tavLst>
                                    </p:anim>
                                    <p:anim calcmode="lin" valueType="num">
                                      <p:cBhvr additive="base">
                                        <p:cTn id="4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0-#ppt_w/2"/>
                                          </p:val>
                                        </p:tav>
                                        <p:tav tm="100000">
                                          <p:val>
                                            <p:strVal val="#ppt_x"/>
                                          </p:val>
                                        </p:tav>
                                      </p:tavLst>
                                    </p:anim>
                                    <p:anim calcmode="lin" valueType="num">
                                      <p:cBhvr additive="base">
                                        <p:cTn id="49" dur="500" fill="hold"/>
                                        <p:tgtEl>
                                          <p:spTgt spid="18"/>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500" fill="hold"/>
                                        <p:tgtEl>
                                          <p:spTgt spid="19"/>
                                        </p:tgtEl>
                                        <p:attrNameLst>
                                          <p:attrName>ppt_x</p:attrName>
                                        </p:attrNameLst>
                                      </p:cBhvr>
                                      <p:tavLst>
                                        <p:tav tm="0">
                                          <p:val>
                                            <p:strVal val="0-#ppt_w/2"/>
                                          </p:val>
                                        </p:tav>
                                        <p:tav tm="100000">
                                          <p:val>
                                            <p:strVal val="#ppt_x"/>
                                          </p:val>
                                        </p:tav>
                                      </p:tavLst>
                                    </p:anim>
                                    <p:anim calcmode="lin" valueType="num">
                                      <p:cBhvr additive="base">
                                        <p:cTn id="53"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barn(inVertical)">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barn(inVertical)">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barn(inVertical)">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1000"/>
                                        <p:tgtEl>
                                          <p:spTgt spid="9"/>
                                        </p:tgtEl>
                                      </p:cBhvr>
                                    </p:animEffect>
                                    <p:anim calcmode="lin" valueType="num">
                                      <p:cBhvr>
                                        <p:cTn id="74" dur="1000" fill="hold"/>
                                        <p:tgtEl>
                                          <p:spTgt spid="9"/>
                                        </p:tgtEl>
                                        <p:attrNameLst>
                                          <p:attrName>ppt_x</p:attrName>
                                        </p:attrNameLst>
                                      </p:cBhvr>
                                      <p:tavLst>
                                        <p:tav tm="0">
                                          <p:val>
                                            <p:strVal val="#ppt_x"/>
                                          </p:val>
                                        </p:tav>
                                        <p:tav tm="100000">
                                          <p:val>
                                            <p:strVal val="#ppt_x"/>
                                          </p:val>
                                        </p:tav>
                                      </p:tavLst>
                                    </p:anim>
                                    <p:anim calcmode="lin" valueType="num">
                                      <p:cBhvr>
                                        <p:cTn id="7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fade">
                                      <p:cBhvr>
                                        <p:cTn id="80" dur="1000"/>
                                        <p:tgtEl>
                                          <p:spTgt spid="13"/>
                                        </p:tgtEl>
                                      </p:cBhvr>
                                    </p:animEffect>
                                    <p:anim calcmode="lin" valueType="num">
                                      <p:cBhvr>
                                        <p:cTn id="81" dur="1000" fill="hold"/>
                                        <p:tgtEl>
                                          <p:spTgt spid="13"/>
                                        </p:tgtEl>
                                        <p:attrNameLst>
                                          <p:attrName>ppt_x</p:attrName>
                                        </p:attrNameLst>
                                      </p:cBhvr>
                                      <p:tavLst>
                                        <p:tav tm="0">
                                          <p:val>
                                            <p:strVal val="#ppt_x"/>
                                          </p:val>
                                        </p:tav>
                                        <p:tav tm="100000">
                                          <p:val>
                                            <p:strVal val="#ppt_x"/>
                                          </p:val>
                                        </p:tav>
                                      </p:tavLst>
                                    </p:anim>
                                    <p:anim calcmode="lin" valueType="num">
                                      <p:cBhvr>
                                        <p:cTn id="8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1000"/>
                                        <p:tgtEl>
                                          <p:spTgt spid="17"/>
                                        </p:tgtEl>
                                      </p:cBhvr>
                                    </p:animEffect>
                                    <p:anim calcmode="lin" valueType="num">
                                      <p:cBhvr>
                                        <p:cTn id="88" dur="1000" fill="hold"/>
                                        <p:tgtEl>
                                          <p:spTgt spid="17"/>
                                        </p:tgtEl>
                                        <p:attrNameLst>
                                          <p:attrName>ppt_x</p:attrName>
                                        </p:attrNameLst>
                                      </p:cBhvr>
                                      <p:tavLst>
                                        <p:tav tm="0">
                                          <p:val>
                                            <p:strVal val="#ppt_x"/>
                                          </p:val>
                                        </p:tav>
                                        <p:tav tm="100000">
                                          <p:val>
                                            <p:strVal val="#ppt_x"/>
                                          </p:val>
                                        </p:tav>
                                      </p:tavLst>
                                    </p:anim>
                                    <p:anim calcmode="lin" valueType="num">
                                      <p:cBhvr>
                                        <p:cTn id="8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anim calcmode="lin" valueType="num">
                                      <p:cBhvr>
                                        <p:cTn id="95" dur="1000" fill="hold"/>
                                        <p:tgtEl>
                                          <p:spTgt spid="21"/>
                                        </p:tgtEl>
                                        <p:attrNameLst>
                                          <p:attrName>ppt_x</p:attrName>
                                        </p:attrNameLst>
                                      </p:cBhvr>
                                      <p:tavLst>
                                        <p:tav tm="0">
                                          <p:val>
                                            <p:strVal val="#ppt_x"/>
                                          </p:val>
                                        </p:tav>
                                        <p:tav tm="100000">
                                          <p:val>
                                            <p:strVal val="#ppt_x"/>
                                          </p:val>
                                        </p:tav>
                                      </p:tavLst>
                                    </p:anim>
                                    <p:anim calcmode="lin" valueType="num">
                                      <p:cBhvr>
                                        <p:cTn id="9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83464" y="2171384"/>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10" name="Text 8"/>
          <p:cNvSpPr/>
          <p:nvPr/>
        </p:nvSpPr>
        <p:spPr>
          <a:xfrm>
            <a:off x="274320" y="2372408"/>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p>
          <a:p>
            <a:pPr marL="0" indent="0" algn="ctr">
              <a:buNone/>
            </a:pPr>
            <a:r>
              <a:rPr lang="en-US" sz="1600" b="1">
                <a:latin typeface="Lato" panose="020F0502020204030203" pitchFamily="34" charset="0"/>
                <a:ea typeface="Calibri" pitchFamily="34" charset="-122"/>
                <a:cs typeface="Arial" panose="020B0604020202020204" pitchFamily="34" charset="0"/>
              </a:rPr>
              <a:t>Dataset </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02336" y="3925272"/>
            <a:ext cx="2514600" cy="1371600"/>
          </a:xfrm>
          <a:prstGeom prst="rect">
            <a:avLst/>
          </a:prstGeom>
          <a:noFill/>
          <a:ln/>
        </p:spPr>
        <p:txBody>
          <a:bodyPr wrap="square" rtlCol="0" anchor="ctr"/>
          <a:lstStyle/>
          <a:p>
            <a:pPr marL="0" indent="0" algn="ctr">
              <a:buNone/>
            </a:pPr>
            <a:r>
              <a:rPr lang="en-US" sz="1050" dirty="0">
                <a:latin typeface="Lato" panose="020F0502020204030203" pitchFamily="34" charset="0"/>
                <a:ea typeface="Calibri" pitchFamily="34" charset="-122"/>
                <a:cs typeface="Arial" panose="020B0604020202020204" pitchFamily="34" charset="0"/>
              </a:rPr>
              <a:t>Cleaned data(Removing missing values &amp; errors)and prepared data for dashboard analysis</a:t>
            </a:r>
            <a:r>
              <a:rPr lang="en-US" sz="1100" dirty="0">
                <a:latin typeface="Lato" panose="020F0502020204030203" pitchFamily="34" charset="0"/>
                <a:ea typeface="Calibri" pitchFamily="34" charset="-122"/>
                <a:cs typeface="Arial" panose="020B0604020202020204" pitchFamily="34" charset="0"/>
              </a:rPr>
              <a:t>.</a:t>
            </a:r>
            <a:endParaRPr lang="en-US" sz="11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4116" y="2370765"/>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p>
          <a:p>
            <a:pPr marL="0" indent="0" algn="ctr">
              <a:buNone/>
            </a:pPr>
            <a:r>
              <a:rPr lang="en-US" sz="1600" b="1" dirty="0">
                <a:latin typeface="Lato" panose="020F0502020204030203" pitchFamily="34" charset="0"/>
                <a:ea typeface="Calibri" pitchFamily="34" charset="-122"/>
                <a:cs typeface="Arial" panose="020B0604020202020204" pitchFamily="34" charset="0"/>
              </a:rPr>
              <a:t>Price Trends dashboard</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37560" y="3931554"/>
            <a:ext cx="2514600" cy="1371600"/>
          </a:xfrm>
          <a:prstGeom prst="rect">
            <a:avLst/>
          </a:prstGeom>
          <a:noFill/>
          <a:ln/>
        </p:spPr>
        <p:txBody>
          <a:bodyPr wrap="square" rtlCol="0" anchor="ctr"/>
          <a:lstStyle/>
          <a:p>
            <a:pPr algn="ctr"/>
            <a:r>
              <a:rPr lang="en-US" sz="1050" dirty="0">
                <a:latin typeface="Lato" panose="020F0502020204030203" pitchFamily="34" charset="0"/>
                <a:ea typeface="Calibri" pitchFamily="34" charset="-122"/>
                <a:cs typeface="Arial" panose="020B0604020202020204" pitchFamily="34" charset="0"/>
              </a:rPr>
              <a:t>Analysis of year house price trends across cities in India, highlight growth patterns and market changes</a:t>
            </a:r>
            <a:r>
              <a:rPr lang="en-US" sz="1100" dirty="0">
                <a:latin typeface="Lato" panose="020F0502020204030203" pitchFamily="34" charset="0"/>
                <a:ea typeface="Calibri" pitchFamily="34" charset="-122"/>
                <a:cs typeface="Arial" panose="020B0604020202020204" pitchFamily="34" charset="0"/>
              </a:rPr>
              <a:t>.</a:t>
            </a:r>
            <a:endParaRPr lang="en-US" sz="1100" dirty="0">
              <a:latin typeface="Lato" panose="020F0502020204030203" pitchFamily="34" charset="0"/>
              <a:cs typeface="Arial" panose="020B0604020202020204" pitchFamily="34" charset="0"/>
            </a:endParaRPr>
          </a:p>
          <a:p>
            <a:pPr marL="0" indent="0" algn="ctr">
              <a:buNone/>
            </a:pPr>
            <a:r>
              <a:rPr lang="en-US" sz="1050" dirty="0">
                <a:latin typeface="Lato" panose="020F0502020204030203" pitchFamily="34" charset="0"/>
                <a:ea typeface="Calibri" pitchFamily="34" charset="-122"/>
                <a:cs typeface="Arial" panose="020B0604020202020204" pitchFamily="34" charset="0"/>
              </a:rPr>
              <a:t>.</a:t>
            </a:r>
            <a:endParaRPr lang="en-US" sz="1050" dirty="0">
              <a:latin typeface="Lato" panose="020F0502020204030203" pitchFamily="34" charset="0"/>
              <a:cs typeface="Arial" panose="020B0604020202020204" pitchFamily="34" charset="0"/>
            </a:endParaRPr>
          </a:p>
        </p:txBody>
      </p:sp>
      <p:sp>
        <p:nvSpPr>
          <p:cNvPr id="17" name="Shape 15"/>
          <p:cNvSpPr/>
          <p:nvPr/>
        </p:nvSpPr>
        <p:spPr>
          <a:xfrm>
            <a:off x="6978623"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53912" y="2188772"/>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20" name="Text 18"/>
          <p:cNvSpPr/>
          <p:nvPr/>
        </p:nvSpPr>
        <p:spPr>
          <a:xfrm>
            <a:off x="6163056" y="2366010"/>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p>
          <a:p>
            <a:pPr marL="0" indent="0" algn="ctr">
              <a:buNone/>
            </a:pPr>
            <a:r>
              <a:rPr lang="en-US" sz="1600" b="1" dirty="0">
                <a:latin typeface="Lato" panose="020F0502020204030203" pitchFamily="34" charset="0"/>
                <a:ea typeface="Calibri" pitchFamily="34" charset="-122"/>
                <a:cs typeface="Arial" panose="020B0604020202020204" pitchFamily="34" charset="0"/>
              </a:rPr>
              <a:t>Predictive Analysis</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9360" y="3913252"/>
            <a:ext cx="2514600" cy="1371600"/>
          </a:xfrm>
          <a:prstGeom prst="rect">
            <a:avLst/>
          </a:prstGeom>
          <a:noFill/>
          <a:ln/>
        </p:spPr>
        <p:txBody>
          <a:bodyPr wrap="square" rtlCol="0" anchor="ctr"/>
          <a:lstStyle/>
          <a:p>
            <a:pPr marL="0" indent="0" algn="ctr">
              <a:buNone/>
            </a:pPr>
            <a:r>
              <a:rPr lang="en-US" sz="1050" dirty="0">
                <a:latin typeface="Lato" panose="020F0502020204030203" pitchFamily="34" charset="0"/>
                <a:ea typeface="Calibri" pitchFamily="34" charset="-122"/>
                <a:cs typeface="Arial" panose="020B0604020202020204" pitchFamily="34" charset="0"/>
              </a:rPr>
              <a:t>Ai Chatbot Response to the answer to the Question and Activated and correct &amp; Accurate answer provide.</a:t>
            </a:r>
            <a:endParaRPr lang="en-US" sz="1600" dirty="0">
              <a:latin typeface="Lato" panose="020F0502020204030203" pitchFamily="34" charset="0"/>
              <a:cs typeface="Arial" panose="020B0604020202020204" pitchFamily="34" charset="0"/>
            </a:endParaRPr>
          </a:p>
        </p:txBody>
      </p:sp>
      <p:pic>
        <p:nvPicPr>
          <p:cNvPr id="13" name="Picture 12" descr="The image shows a Microsoft Excel spreadsheet with a list of property prices in India, including columns for dates, prices, and other details.&#10;&#10;AI-generated content may be incorrect.">
            <a:extLst>
              <a:ext uri="{FF2B5EF4-FFF2-40B4-BE49-F238E27FC236}">
                <a16:creationId xmlns:a16="http://schemas.microsoft.com/office/drawing/2014/main" id="{F7BD3FD2-7980-9610-CC01-F22A1E2F107C}"/>
              </a:ext>
            </a:extLst>
          </p:cNvPr>
          <p:cNvPicPr>
            <a:picLocks noChangeAspect="1"/>
          </p:cNvPicPr>
          <p:nvPr/>
        </p:nvPicPr>
        <p:blipFill>
          <a:blip r:embed="rId4"/>
          <a:stretch>
            <a:fillRect/>
          </a:stretch>
        </p:blipFill>
        <p:spPr>
          <a:xfrm>
            <a:off x="274320" y="2825351"/>
            <a:ext cx="2807208" cy="1467516"/>
          </a:xfrm>
          <a:prstGeom prst="rect">
            <a:avLst/>
          </a:prstGeom>
        </p:spPr>
      </p:pic>
      <p:pic>
        <p:nvPicPr>
          <p:cNvPr id="3" name="Picture 2" descr="The image is a dashboard in Microsoft Power BI displaying a house price analysis, with various charts and filters for data visualization.">
            <a:extLst>
              <a:ext uri="{FF2B5EF4-FFF2-40B4-BE49-F238E27FC236}">
                <a16:creationId xmlns:a16="http://schemas.microsoft.com/office/drawing/2014/main" id="{3B567EBB-8AB2-F6BB-3110-94BFDDB17055}"/>
              </a:ext>
            </a:extLst>
          </p:cNvPr>
          <p:cNvPicPr>
            <a:picLocks noChangeAspect="1"/>
          </p:cNvPicPr>
          <p:nvPr/>
        </p:nvPicPr>
        <p:blipFill>
          <a:blip r:embed="rId5"/>
          <a:stretch>
            <a:fillRect/>
          </a:stretch>
        </p:blipFill>
        <p:spPr>
          <a:xfrm>
            <a:off x="3227832" y="2825350"/>
            <a:ext cx="2784348" cy="1467517"/>
          </a:xfrm>
          <a:prstGeom prst="rect">
            <a:avLst/>
          </a:prstGeom>
        </p:spPr>
      </p:pic>
      <p:pic>
        <p:nvPicPr>
          <p:cNvPr id="22" name="Picture 21" descr="The image displays a Microsoft Copilot Studio interface, featuring an agent provisioned for testing, with sections for evaluating the effect of living area on property price in India.">
            <a:extLst>
              <a:ext uri="{FF2B5EF4-FFF2-40B4-BE49-F238E27FC236}">
                <a16:creationId xmlns:a16="http://schemas.microsoft.com/office/drawing/2014/main" id="{952D9914-6360-3FF6-4054-16145A0307FB}"/>
              </a:ext>
            </a:extLst>
          </p:cNvPr>
          <p:cNvPicPr>
            <a:picLocks noChangeAspect="1"/>
          </p:cNvPicPr>
          <p:nvPr/>
        </p:nvPicPr>
        <p:blipFill>
          <a:blip r:embed="rId6"/>
          <a:stretch>
            <a:fillRect/>
          </a:stretch>
        </p:blipFill>
        <p:spPr>
          <a:xfrm>
            <a:off x="6153912" y="2825350"/>
            <a:ext cx="2798064" cy="1467517"/>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0-#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barn(inVertical)">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barn(inVertical)">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barn(inVertical)">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additive="base">
                                        <p:cTn id="70" dur="500" fill="hold"/>
                                        <p:tgtEl>
                                          <p:spTgt spid="11"/>
                                        </p:tgtEl>
                                        <p:attrNameLst>
                                          <p:attrName>ppt_x</p:attrName>
                                        </p:attrNameLst>
                                      </p:cBhvr>
                                      <p:tavLst>
                                        <p:tav tm="0">
                                          <p:val>
                                            <p:strVal val="#ppt_x"/>
                                          </p:val>
                                        </p:tav>
                                        <p:tav tm="100000">
                                          <p:val>
                                            <p:strVal val="#ppt_x"/>
                                          </p:val>
                                        </p:tav>
                                      </p:tavLst>
                                    </p:anim>
                                    <p:anim calcmode="lin" valueType="num">
                                      <p:cBhvr additive="base">
                                        <p:cTn id="7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6">
                                            <p:bg/>
                                          </p:spTgt>
                                        </p:tgtEl>
                                        <p:attrNameLst>
                                          <p:attrName>style.visibility</p:attrName>
                                        </p:attrNameLst>
                                      </p:cBhvr>
                                      <p:to>
                                        <p:strVal val="visible"/>
                                      </p:to>
                                    </p:set>
                                    <p:anim calcmode="lin" valueType="num">
                                      <p:cBhvr additive="base">
                                        <p:cTn id="76" dur="500" fill="hold"/>
                                        <p:tgtEl>
                                          <p:spTgt spid="16">
                                            <p:bg/>
                                          </p:spTgt>
                                        </p:tgtEl>
                                        <p:attrNameLst>
                                          <p:attrName>ppt_x</p:attrName>
                                        </p:attrNameLst>
                                      </p:cBhvr>
                                      <p:tavLst>
                                        <p:tav tm="0">
                                          <p:val>
                                            <p:strVal val="#ppt_x"/>
                                          </p:val>
                                        </p:tav>
                                        <p:tav tm="100000">
                                          <p:val>
                                            <p:strVal val="#ppt_x"/>
                                          </p:val>
                                        </p:tav>
                                      </p:tavLst>
                                    </p:anim>
                                    <p:anim calcmode="lin" valueType="num">
                                      <p:cBhvr additive="base">
                                        <p:cTn id="77" dur="500" fill="hold"/>
                                        <p:tgtEl>
                                          <p:spTgt spid="16">
                                            <p:bg/>
                                          </p:spTgt>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16">
                                            <p:txEl>
                                              <p:pRg st="0" end="0"/>
                                            </p:txEl>
                                          </p:spTgt>
                                        </p:tgtEl>
                                        <p:attrNameLst>
                                          <p:attrName>style.visibility</p:attrName>
                                        </p:attrNameLst>
                                      </p:cBhvr>
                                      <p:to>
                                        <p:strVal val="visible"/>
                                      </p:to>
                                    </p:set>
                                    <p:anim calcmode="lin" valueType="num">
                                      <p:cBhvr additive="base">
                                        <p:cTn id="80"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16">
                                            <p:txEl>
                                              <p:pRg st="1" end="1"/>
                                            </p:txEl>
                                          </p:spTgt>
                                        </p:tgtEl>
                                        <p:attrNameLst>
                                          <p:attrName>style.visibility</p:attrName>
                                        </p:attrNameLst>
                                      </p:cBhvr>
                                      <p:to>
                                        <p:strVal val="visible"/>
                                      </p:to>
                                    </p:set>
                                    <p:anim calcmode="lin" valueType="num">
                                      <p:cBhvr additive="base">
                                        <p:cTn id="84"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21"/>
                                        </p:tgtEl>
                                        <p:attrNameLst>
                                          <p:attrName>style.visibility</p:attrName>
                                        </p:attrNameLst>
                                      </p:cBhvr>
                                      <p:to>
                                        <p:strVal val="visible"/>
                                      </p:to>
                                    </p:set>
                                    <p:anim calcmode="lin" valueType="num">
                                      <p:cBhvr additive="base">
                                        <p:cTn id="90" dur="500" fill="hold"/>
                                        <p:tgtEl>
                                          <p:spTgt spid="21"/>
                                        </p:tgtEl>
                                        <p:attrNameLst>
                                          <p:attrName>ppt_x</p:attrName>
                                        </p:attrNameLst>
                                      </p:cBhvr>
                                      <p:tavLst>
                                        <p:tav tm="0">
                                          <p:val>
                                            <p:strVal val="#ppt_x"/>
                                          </p:val>
                                        </p:tav>
                                        <p:tav tm="100000">
                                          <p:val>
                                            <p:strVal val="#ppt_x"/>
                                          </p:val>
                                        </p:tav>
                                      </p:tavLst>
                                    </p:anim>
                                    <p:anim calcmode="lin" valueType="num">
                                      <p:cBhvr additive="base">
                                        <p:cTn id="91"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3"/>
                                        </p:tgtEl>
                                        <p:attrNameLst>
                                          <p:attrName>style.visibility</p:attrName>
                                        </p:attrNameLst>
                                      </p:cBhvr>
                                      <p:to>
                                        <p:strVal val="visible"/>
                                      </p:to>
                                    </p:set>
                                    <p:anim calcmode="lin" valueType="num">
                                      <p:cBhvr additive="base">
                                        <p:cTn id="96" dur="500" fill="hold"/>
                                        <p:tgtEl>
                                          <p:spTgt spid="3"/>
                                        </p:tgtEl>
                                        <p:attrNameLst>
                                          <p:attrName>ppt_x</p:attrName>
                                        </p:attrNameLst>
                                      </p:cBhvr>
                                      <p:tavLst>
                                        <p:tav tm="0">
                                          <p:val>
                                            <p:strVal val="#ppt_x"/>
                                          </p:val>
                                        </p:tav>
                                        <p:tav tm="100000">
                                          <p:val>
                                            <p:strVal val="#ppt_x"/>
                                          </p:val>
                                        </p:tav>
                                      </p:tavLst>
                                    </p:anim>
                                    <p:anim calcmode="lin" valueType="num">
                                      <p:cBhvr additive="base">
                                        <p:cTn id="9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22"/>
                                        </p:tgtEl>
                                        <p:attrNameLst>
                                          <p:attrName>style.visibility</p:attrName>
                                        </p:attrNameLst>
                                      </p:cBhvr>
                                      <p:to>
                                        <p:strVal val="visible"/>
                                      </p:to>
                                    </p:set>
                                    <p:anim calcmode="lin" valueType="num">
                                      <p:cBhvr additive="base">
                                        <p:cTn id="102" dur="500" fill="hold"/>
                                        <p:tgtEl>
                                          <p:spTgt spid="22"/>
                                        </p:tgtEl>
                                        <p:attrNameLst>
                                          <p:attrName>ppt_x</p:attrName>
                                        </p:attrNameLst>
                                      </p:cBhvr>
                                      <p:tavLst>
                                        <p:tav tm="0">
                                          <p:val>
                                            <p:strVal val="#ppt_x"/>
                                          </p:val>
                                        </p:tav>
                                        <p:tav tm="100000">
                                          <p:val>
                                            <p:strVal val="#ppt_x"/>
                                          </p:val>
                                        </p:tav>
                                      </p:tavLst>
                                    </p:anim>
                                    <p:anim calcmode="lin" valueType="num">
                                      <p:cBhvr additive="base">
                                        <p:cTn id="10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1" grpId="0" animBg="1"/>
      <p:bldP spid="12" grpId="0" animBg="1"/>
      <p:bldP spid="14" grpId="0" animBg="1"/>
      <p:bldP spid="15" grpId="0" animBg="1"/>
      <p:bldP spid="16" grpId="0" build="allAtOnce" animBg="1"/>
      <p:bldP spid="17" grpId="0" animBg="1"/>
      <p:bldP spid="19"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234440" y="738258"/>
            <a:ext cx="7178040" cy="228600"/>
          </a:xfrm>
          <a:prstGeom prst="rect">
            <a:avLst/>
          </a:prstGeom>
          <a:solidFill>
            <a:srgbClr val="FFFFFF"/>
          </a:solidFill>
          <a:ln w="6350">
            <a:solidFill>
              <a:srgbClr val="CCCCCC"/>
            </a:solidFill>
            <a:prstDash val="solid"/>
          </a:ln>
        </p:spPr>
        <p:txBody>
          <a:bodyPr/>
          <a:lstStyle/>
          <a:p>
            <a:r>
              <a:rPr lang="en-US" sz="1100" dirty="0"/>
              <a:t>https://1drv.ms/v/c/81CC0BDDD2E609BB/IQDqYJyTuU8_S49A86mGlavBAZGQC_xs7ggm1zXDBfMW8Tg?e=80s0DO</a:t>
            </a:r>
            <a:endParaRPr lang="en-IN" sz="1100" dirty="0"/>
          </a:p>
        </p:txBody>
      </p:sp>
      <p:sp>
        <p:nvSpPr>
          <p:cNvPr id="12" name="Text 10"/>
          <p:cNvSpPr/>
          <p:nvPr/>
        </p:nvSpPr>
        <p:spPr>
          <a:xfrm>
            <a:off x="1371600" y="704088"/>
            <a:ext cx="4992624" cy="365760"/>
          </a:xfrm>
          <a:prstGeom prst="rect">
            <a:avLst/>
          </a:prstGeom>
          <a:noFill/>
          <a:ln/>
        </p:spPr>
        <p:txBody>
          <a:bodyPr wrap="square" rtlCol="0" anchor="ctr"/>
          <a:lstStyle/>
          <a:p>
            <a:endParaRPr lang="en-US" sz="900" dirty="0">
              <a:solidFill>
                <a:srgbClr val="607D8B"/>
              </a:solidFill>
              <a:latin typeface="Calibri" pitchFamily="34" charset="0"/>
              <a:ea typeface="Calibri" pitchFamily="34" charset="-122"/>
              <a:cs typeface="Calibri" pitchFamily="34" charset="-120"/>
            </a:endParaRPr>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851835" y="4001222"/>
            <a:ext cx="7315200" cy="594360"/>
          </a:xfrm>
          <a:prstGeom prst="rect">
            <a:avLst/>
          </a:prstGeom>
          <a:noFill/>
          <a:ln/>
        </p:spPr>
        <p:txBody>
          <a:bodyPr wrap="square" rtlCol="0" anchor="ctr"/>
          <a:lstStyle/>
          <a:p>
            <a:pPr marL="0" indent="0" algn="ctr">
              <a:buNone/>
            </a:pPr>
            <a:r>
              <a:rPr lang="en-US" sz="1100" b="1" i="1" dirty="0">
                <a:solidFill>
                  <a:srgbClr val="607D8B"/>
                </a:solidFill>
                <a:latin typeface="Calibri" pitchFamily="34" charset="0"/>
                <a:ea typeface="Calibri" pitchFamily="34" charset="-122"/>
                <a:cs typeface="Calibri" pitchFamily="34" charset="-120"/>
              </a:rPr>
              <a:t>This dashboard Present a comprehensive analysis of House prices in India using data visualization techniques.it includes key insights such as price variation based on number of bedrooms ,house grade ,and living area. The dashboard also shows trends based on built year ,distance from airport ,and  floor distribution. Interactive filters like date selection help in better understanding and analysis of real estate data. </a:t>
            </a:r>
          </a:p>
        </p:txBody>
      </p:sp>
      <p:pic>
        <p:nvPicPr>
          <p:cNvPr id="16" name="Picture 15" descr="The image is a dashboard in Microsoft Power BI displaying a house price analysis, with various charts and filters for data visualization.&#10;&#10;AI-generated content may be incorrect.">
            <a:extLst>
              <a:ext uri="{FF2B5EF4-FFF2-40B4-BE49-F238E27FC236}">
                <a16:creationId xmlns:a16="http://schemas.microsoft.com/office/drawing/2014/main" id="{9E9F9B31-7E1C-8A0D-97EA-97D1462583B1}"/>
              </a:ext>
            </a:extLst>
          </p:cNvPr>
          <p:cNvPicPr>
            <a:picLocks noChangeAspect="1"/>
          </p:cNvPicPr>
          <p:nvPr/>
        </p:nvPicPr>
        <p:blipFill>
          <a:blip r:embed="rId4"/>
          <a:stretch>
            <a:fillRect/>
          </a:stretch>
        </p:blipFill>
        <p:spPr>
          <a:xfrm>
            <a:off x="365760" y="1227221"/>
            <a:ext cx="8412480" cy="2671012"/>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30351" y="1181180"/>
            <a:ext cx="4446513" cy="3474720"/>
          </a:xfrm>
          <a:prstGeom prst="rect">
            <a:avLst/>
          </a:prstGeom>
          <a:noFill/>
          <a:ln/>
        </p:spPr>
        <p:txBody>
          <a:bodyPr wrap="square" rtlCol="0" anchor="t"/>
          <a:lstStyle/>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The Project successfully integrates multiple tools to provide actionable insights into house price trends in India. </a:t>
            </a:r>
          </a:p>
          <a:p>
            <a:pPr marL="0" indent="0">
              <a:buNone/>
            </a:pPr>
            <a:r>
              <a:rPr lang="en-US" dirty="0">
                <a:solidFill>
                  <a:srgbClr val="1A1A2E"/>
                </a:solidFill>
                <a:latin typeface="Lato" panose="020F0502020204030203" pitchFamily="34" charset="0"/>
                <a:ea typeface="Calibri" pitchFamily="34" charset="-122"/>
                <a:cs typeface="Arial" panose="020B0604020202020204" pitchFamily="34" charset="0"/>
              </a:rPr>
              <a:t>Objectives of affordability analysis and predictive modeling were achieved . This adds value to policymakers , investors , and buyers. Adds value by combining multiple tools into one integrated solution.</a:t>
            </a: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heel(1)">
                                      <p:cBhvr>
                                        <p:cTn id="19"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41433" y="1245733"/>
            <a:ext cx="4114800" cy="3474720"/>
          </a:xfrm>
          <a:prstGeom prst="rect">
            <a:avLst/>
          </a:prstGeom>
          <a:noFill/>
          <a:ln/>
        </p:spPr>
        <p:txBody>
          <a:bodyPr wrap="square" rtlCol="0" anchor="t"/>
          <a:lstStyle/>
          <a:p>
            <a:pPr marL="285750" indent="-285750">
              <a:buFontTx/>
              <a:buChar char="-"/>
            </a:pPr>
            <a:r>
              <a:rPr lang="en-US" dirty="0">
                <a:solidFill>
                  <a:srgbClr val="1A1A2E"/>
                </a:solidFill>
                <a:latin typeface="Lato" panose="020F0502020204030203" pitchFamily="34" charset="0"/>
                <a:ea typeface="Calibri" pitchFamily="34" charset="-122"/>
                <a:cs typeface="Arial" panose="020B0604020202020204" pitchFamily="34" charset="0"/>
              </a:rPr>
              <a:t>Expand datasets to include rental markets.</a:t>
            </a:r>
          </a:p>
          <a:p>
            <a:pPr marL="285750" indent="-285750">
              <a:buFontTx/>
              <a:buChar char="-"/>
            </a:pPr>
            <a:r>
              <a:rPr lang="en-US" dirty="0">
                <a:solidFill>
                  <a:srgbClr val="1A1A2E"/>
                </a:solidFill>
                <a:latin typeface="Lato" panose="020F0502020204030203" pitchFamily="34" charset="0"/>
                <a:ea typeface="Calibri" pitchFamily="34" charset="-122"/>
                <a:cs typeface="Arial" panose="020B0604020202020204" pitchFamily="34" charset="0"/>
              </a:rPr>
              <a:t>Integrate real – time APIs for dynamic updates.</a:t>
            </a:r>
          </a:p>
          <a:p>
            <a:pPr marL="285750" indent="-285750">
              <a:buFontTx/>
              <a:buChar char="-"/>
            </a:pPr>
            <a:r>
              <a:rPr lang="en-US" dirty="0">
                <a:solidFill>
                  <a:srgbClr val="1A1A2E"/>
                </a:solidFill>
                <a:latin typeface="Lato" panose="020F0502020204030203" pitchFamily="34" charset="0"/>
                <a:ea typeface="Calibri" pitchFamily="34" charset="-122"/>
                <a:cs typeface="Arial" panose="020B0604020202020204" pitchFamily="34" charset="0"/>
              </a:rPr>
              <a:t>Enhance predictive models with machine learning.</a:t>
            </a:r>
          </a:p>
          <a:p>
            <a:pPr marL="285750" indent="-285750">
              <a:buFontTx/>
              <a:buChar char="-"/>
            </a:pPr>
            <a:r>
              <a:rPr lang="en-US" dirty="0">
                <a:solidFill>
                  <a:srgbClr val="1A1A2E"/>
                </a:solidFill>
                <a:latin typeface="Lato" panose="020F0502020204030203" pitchFamily="34" charset="0"/>
                <a:ea typeface="Calibri" pitchFamily="34" charset="-122"/>
                <a:cs typeface="Arial" panose="020B0604020202020204" pitchFamily="34" charset="0"/>
              </a:rPr>
              <a:t>Scale dashboards for broader geographic coverage.</a:t>
            </a: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800" decel="100000"/>
                                        <p:tgtEl>
                                          <p:spTgt spid="14"/>
                                        </p:tgtEl>
                                      </p:cBhvr>
                                    </p:animEffect>
                                    <p:anim calcmode="lin" valueType="num">
                                      <p:cBhvr>
                                        <p:cTn id="20" dur="800" decel="100000" fill="hold"/>
                                        <p:tgtEl>
                                          <p:spTgt spid="14"/>
                                        </p:tgtEl>
                                        <p:attrNameLst>
                                          <p:attrName>style.rotation</p:attrName>
                                        </p:attrNameLst>
                                      </p:cBhvr>
                                      <p:tavLst>
                                        <p:tav tm="0">
                                          <p:val>
                                            <p:fltVal val="-90"/>
                                          </p:val>
                                        </p:tav>
                                        <p:tav tm="100000">
                                          <p:val>
                                            <p:fltVal val="0"/>
                                          </p:val>
                                        </p:tav>
                                      </p:tavLst>
                                    </p:anim>
                                    <p:anim calcmode="lin" valueType="num">
                                      <p:cBhvr>
                                        <p:cTn id="21" dur="800" decel="100000" fill="hold"/>
                                        <p:tgtEl>
                                          <p:spTgt spid="14"/>
                                        </p:tgtEl>
                                        <p:attrNameLst>
                                          <p:attrName>ppt_x</p:attrName>
                                        </p:attrNameLst>
                                      </p:cBhvr>
                                      <p:tavLst>
                                        <p:tav tm="0">
                                          <p:val>
                                            <p:strVal val="#ppt_x+0.4"/>
                                          </p:val>
                                        </p:tav>
                                        <p:tav tm="100000">
                                          <p:val>
                                            <p:strVal val="#ppt_x-0.05"/>
                                          </p:val>
                                        </p:tav>
                                      </p:tavLst>
                                    </p:anim>
                                    <p:anim calcmode="lin" valueType="num">
                                      <p:cBhvr>
                                        <p:cTn id="22" dur="800" decel="100000" fill="hold"/>
                                        <p:tgtEl>
                                          <p:spTgt spid="14"/>
                                        </p:tgtEl>
                                        <p:attrNameLst>
                                          <p:attrName>ppt_y</p:attrName>
                                        </p:attrNameLst>
                                      </p:cBhvr>
                                      <p:tavLst>
                                        <p:tav tm="0">
                                          <p:val>
                                            <p:strVal val="#ppt_y-0.4"/>
                                          </p:val>
                                        </p:tav>
                                        <p:tav tm="100000">
                                          <p:val>
                                            <p:strVal val="#ppt_y+0.1"/>
                                          </p:val>
                                        </p:tav>
                                      </p:tavLst>
                                    </p:anim>
                                    <p:anim calcmode="lin" valueType="num">
                                      <p:cBhvr>
                                        <p:cTn id="23" dur="200" accel="100000" fill="hold">
                                          <p:stCondLst>
                                            <p:cond delay="800"/>
                                          </p:stCondLst>
                                        </p:cTn>
                                        <p:tgtEl>
                                          <p:spTgt spid="14"/>
                                        </p:tgtEl>
                                        <p:attrNameLst>
                                          <p:attrName>ppt_x</p:attrName>
                                        </p:attrNameLst>
                                      </p:cBhvr>
                                      <p:tavLst>
                                        <p:tav tm="0">
                                          <p:val>
                                            <p:strVal val="#ppt_x-0.05"/>
                                          </p:val>
                                        </p:tav>
                                        <p:tav tm="100000">
                                          <p:val>
                                            <p:strVal val="#ppt_x"/>
                                          </p:val>
                                        </p:tav>
                                      </p:tavLst>
                                    </p:anim>
                                    <p:anim calcmode="lin" valueType="num">
                                      <p:cBhvr>
                                        <p:cTn id="24" dur="200" accel="100000" fill="hold">
                                          <p:stCondLst>
                                            <p:cond delay="8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550</Words>
  <Application>Microsoft Office PowerPoint</Application>
  <PresentationFormat>On-screen Show (16:9)</PresentationFormat>
  <Paragraphs>82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Vaidehiba Barad</cp:lastModifiedBy>
  <cp:revision>29</cp:revision>
  <dcterms:created xsi:type="dcterms:W3CDTF">2026-02-18T09:17:23Z</dcterms:created>
  <dcterms:modified xsi:type="dcterms:W3CDTF">2026-04-05T17:55:10Z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